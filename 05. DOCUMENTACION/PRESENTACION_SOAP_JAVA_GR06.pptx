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4"/>
  </p:notesMasterIdLst>
  <p:sldIdLst>
    <p:sldId id="256" r:id="rId3"/>
    <p:sldId id="330" r:id="rId4"/>
    <p:sldId id="257" r:id="rId5"/>
    <p:sldId id="300" r:id="rId6"/>
    <p:sldId id="258" r:id="rId7"/>
    <p:sldId id="259" r:id="rId8"/>
    <p:sldId id="261" r:id="rId9"/>
    <p:sldId id="262" r:id="rId10"/>
    <p:sldId id="278" r:id="rId11"/>
    <p:sldId id="279" r:id="rId12"/>
    <p:sldId id="280" r:id="rId13"/>
    <p:sldId id="284" r:id="rId14"/>
    <p:sldId id="329" r:id="rId15"/>
    <p:sldId id="287" r:id="rId16"/>
    <p:sldId id="293" r:id="rId17"/>
    <p:sldId id="311" r:id="rId18"/>
    <p:sldId id="295" r:id="rId19"/>
    <p:sldId id="321" r:id="rId20"/>
    <p:sldId id="296" r:id="rId21"/>
    <p:sldId id="297" r:id="rId22"/>
    <p:sldId id="299" r:id="rId23"/>
  </p:sldIdLst>
  <p:sldSz cx="12192000" cy="6858000"/>
  <p:notesSz cx="6858000" cy="9144000"/>
  <p:embeddedFontLst>
    <p:embeddedFont>
      <p:font typeface="Calibri" panose="020F0502020204030204" pitchFamily="34" charset="0"/>
      <p:regular r:id="rId25"/>
      <p:bold r:id="rId26"/>
      <p:italic r:id="rId27"/>
      <p:boldItalic r:id="rId28"/>
    </p:embeddedFont>
    <p:embeddedFont>
      <p:font typeface="Gill Sans" panose="020B0604020202020204" charset="0"/>
      <p:regular r:id="rId29"/>
      <p:bold r:id="rId30"/>
    </p:embeddedFont>
    <p:embeddedFont>
      <p:font typeface="Gill Sans MT" panose="020B0502020104020203" pitchFamily="34" charset="0"/>
      <p:regular r:id="rId31"/>
      <p:bold r:id="rId32"/>
      <p:italic r:id="rId33"/>
      <p:boldItalic r:id="rId34"/>
    </p:embeddedFont>
    <p:embeddedFont>
      <p:font typeface="Wingdings 2" panose="05020102010507070707" pitchFamily="18" charset="2"/>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font" Target="fonts/font10.fntdata"/><Relationship Id="rId8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82"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6.xml"/><Relationship Id="rId85" Type="http://schemas.openxmlformats.org/officeDocument/2006/relationships/theme" Target="theme/theme1.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1521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24d66b2a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2524d66b2a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524d66b2ad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2524d66b2ad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ddeedea7d3_1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g1ddeedea7d3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524d66b2ad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2524d66b2ad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524d66b2ad_0_2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g2524d66b2ad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6127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dc40ab34ca_0_2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1dc40ab34ca_0_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0579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7635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524d66b2ad_0_4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2524d66b2ad_0_4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40"/>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0"/>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9" name="Google Shape;29;p4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864447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737482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043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330376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628262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3585974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207235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5/12/2026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42209327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6162631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9422626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97229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5/12/2026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183708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oracle.com/java/technologies/java-ee-glance.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fontScale="90000"/>
          </a:bodyPr>
          <a:lstStyle/>
          <a:p>
            <a:pPr algn="ctr">
              <a:buClr>
                <a:schemeClr val="lt1"/>
              </a:buClr>
            </a:pPr>
            <a:r>
              <a:rPr lang="es-EC" dirty="0">
                <a:solidFill>
                  <a:schemeClr val="lt1"/>
                </a:solidFill>
              </a:rPr>
              <a:t>CONVERSIÓN DE UNIDADES SOAP EN JAVA SIN BASE DE DATOS </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Axel Herrera</a:t>
            </a:r>
            <a:br>
              <a:rPr lang="es-ES" b="1" dirty="0">
                <a:solidFill>
                  <a:schemeClr val="lt1"/>
                </a:solidFill>
              </a:rPr>
            </a:br>
            <a:r>
              <a:rPr lang="es-ES" b="1" dirty="0">
                <a:solidFill>
                  <a:schemeClr val="lt1"/>
                </a:solidFill>
              </a:rPr>
              <a:t>		Cristian Robalino</a:t>
            </a:r>
            <a:br>
              <a:rPr lang="es-ES" b="1" dirty="0">
                <a:solidFill>
                  <a:schemeClr val="lt1"/>
                </a:solidFill>
              </a:rPr>
            </a:br>
            <a:r>
              <a:rPr lang="es-ES" b="1" dirty="0">
                <a:solidFill>
                  <a:schemeClr val="lt1"/>
                </a:solidFill>
              </a:rPr>
              <a:t>		Raúl Silva</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a:t>
            </a:r>
            <a:r>
              <a:rPr lang="es-EC" sz="1600" dirty="0">
                <a:solidFill>
                  <a:schemeClr val="lt1"/>
                </a:solidFill>
                <a:latin typeface="Gill Sans"/>
              </a:rPr>
              <a:t>30741</a:t>
            </a: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12/5/2026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3" name="Rectangle 12">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 name="Marcador de contenido 2">
            <a:extLst>
              <a:ext uri="{FF2B5EF4-FFF2-40B4-BE49-F238E27FC236}">
                <a16:creationId xmlns:a16="http://schemas.microsoft.com/office/drawing/2014/main" id="{E7FCC8BE-29CF-4C4C-BE9D-AC08DC5E481A}"/>
              </a:ext>
            </a:extLst>
          </p:cNvPr>
          <p:cNvSpPr>
            <a:spLocks noGrp="1"/>
          </p:cNvSpPr>
          <p:nvPr>
            <p:ph idx="1"/>
          </p:nvPr>
        </p:nvSpPr>
        <p:spPr>
          <a:xfrm>
            <a:off x="596348" y="701336"/>
            <a:ext cx="3389726" cy="5424255"/>
          </a:xfrm>
        </p:spPr>
        <p:txBody>
          <a:bodyPr vert="horz" lIns="91440" tIns="45720" rIns="91440" bIns="45720" rtlCol="0" anchor="ctr">
            <a:normAutofit fontScale="92500" lnSpcReduction="20000"/>
          </a:bodyPr>
          <a:lstStyle/>
          <a:p>
            <a:r>
              <a:rPr lang="es-ES" dirty="0">
                <a:solidFill>
                  <a:schemeClr val="bg1"/>
                </a:solidFill>
              </a:rPr>
              <a:t>DESARROLLO</a:t>
            </a:r>
          </a:p>
          <a:p>
            <a:pPr lvl="1"/>
            <a:r>
              <a:rPr lang="es-ES" dirty="0">
                <a:solidFill>
                  <a:schemeClr val="bg1"/>
                </a:solidFill>
              </a:rPr>
              <a:t>OBJETIVO</a:t>
            </a:r>
          </a:p>
          <a:p>
            <a:pPr marL="763200" lvl="1">
              <a:defRPr/>
            </a:pPr>
            <a:r>
              <a:rPr lang="es-ES" sz="1800" dirty="0">
                <a:solidFill>
                  <a:schemeClr val="bg1"/>
                </a:solidFill>
              </a:rPr>
              <a:t>CREACIÓN DEL </a:t>
            </a:r>
            <a:r>
              <a:rPr lang="es-ES" sz="1800">
                <a:solidFill>
                  <a:schemeClr val="bg1"/>
                </a:solidFill>
              </a:rPr>
              <a:t>SERVIDOR SOAP</a:t>
            </a:r>
            <a:endParaRPr lang="es-ES" sz="1800" dirty="0">
              <a:solidFill>
                <a:schemeClr val="bg1"/>
              </a:solidFill>
            </a:endParaRPr>
          </a:p>
          <a:p>
            <a:pPr marL="763200" lvl="1">
              <a:defRPr/>
            </a:pPr>
            <a:r>
              <a:rPr lang="es-ES" sz="1800" dirty="0">
                <a:solidFill>
                  <a:schemeClr val="bg1"/>
                </a:solidFill>
              </a:rPr>
              <a:t>CREACIÓN DEL PROYECTO – CLIENTE CONSOLA</a:t>
            </a:r>
          </a:p>
          <a:p>
            <a:pPr marL="763200" lvl="1">
              <a:defRPr/>
            </a:pPr>
            <a:r>
              <a:rPr lang="es-ES" sz="1800" dirty="0">
                <a:solidFill>
                  <a:schemeClr val="bg1"/>
                </a:solidFill>
              </a:rPr>
              <a:t>CREACIÓN DEL PROYECTO – CLIENTE ESCRITORIO</a:t>
            </a:r>
          </a:p>
          <a:p>
            <a:pPr marL="763200" lvl="1">
              <a:defRPr/>
            </a:pPr>
            <a:r>
              <a:rPr lang="es-ES" sz="1800" dirty="0">
                <a:solidFill>
                  <a:schemeClr val="bg1"/>
                </a:solidFill>
              </a:rPr>
              <a:t>CREACIÓN DEL PROYECTO – CLIENTE WEB</a:t>
            </a:r>
          </a:p>
          <a:p>
            <a:pPr marL="763200" lvl="1">
              <a:defRPr/>
            </a:pPr>
            <a:r>
              <a:rPr lang="es-ES" sz="1800" dirty="0">
                <a:solidFill>
                  <a:schemeClr val="bg1"/>
                </a:solidFill>
              </a:rPr>
              <a:t>CREACIÓN DEL PROYECTO – CLIENTE MOVIL</a:t>
            </a:r>
          </a:p>
          <a:p>
            <a:pPr marR="0" lvl="0" fontAlgn="auto">
              <a:lnSpc>
                <a:spcPct val="100000"/>
              </a:lnSpc>
              <a:tabLst/>
              <a:defRPr/>
            </a:pPr>
            <a:r>
              <a:rPr lang="es-ES" dirty="0">
                <a:solidFill>
                  <a:schemeClr val="bg1"/>
                </a:solidFill>
              </a:rPr>
              <a:t>CONCLUSIONES</a:t>
            </a:r>
          </a:p>
          <a:p>
            <a:pPr marR="0" lvl="0" fontAlgn="auto">
              <a:lnSpc>
                <a:spcPct val="100000"/>
              </a:lnSpc>
              <a:tabLst/>
              <a:defRPr/>
            </a:pPr>
            <a:r>
              <a:rPr lang="es-ES" dirty="0">
                <a:solidFill>
                  <a:schemeClr val="bg1"/>
                </a:solidFill>
              </a:rPr>
              <a:t>RECOMENDACIONES</a:t>
            </a:r>
          </a:p>
          <a:p>
            <a:pPr marR="0" lvl="0" fontAlgn="auto">
              <a:lnSpc>
                <a:spcPct val="100000"/>
              </a:lnSpc>
              <a:tabLst/>
              <a:defRPr/>
            </a:pPr>
            <a:r>
              <a:rPr lang="es-ES" dirty="0">
                <a:solidFill>
                  <a:schemeClr val="bg1"/>
                </a:solidFill>
              </a:rPr>
              <a:t>BIBLIOGRAFÍA</a:t>
            </a:r>
          </a:p>
        </p:txBody>
      </p:sp>
      <p:pic>
        <p:nvPicPr>
          <p:cNvPr id="6" name="Picture 2" descr="Resultado de imagen para AGENDA PNG">
            <a:extLst>
              <a:ext uri="{FF2B5EF4-FFF2-40B4-BE49-F238E27FC236}">
                <a16:creationId xmlns:a16="http://schemas.microsoft.com/office/drawing/2014/main" id="{BEAB8E00-371D-4C0F-B6B7-9BEE622AFD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935576"/>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A76E918-E1AF-47F5-B0A9-06C8BD2DAC04}"/>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2</a:t>
            </a:r>
          </a:p>
        </p:txBody>
      </p:sp>
    </p:spTree>
    <p:extLst>
      <p:ext uri="{BB962C8B-B14F-4D97-AF65-F5344CB8AC3E}">
        <p14:creationId xmlns:p14="http://schemas.microsoft.com/office/powerpoint/2010/main" val="74937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624325" y="1808081"/>
            <a:ext cx="8293914" cy="4649809"/>
            <a:chOff x="0" y="52173"/>
            <a:chExt cx="8269931" cy="3824461"/>
          </a:xfrm>
        </p:grpSpPr>
        <p:sp>
          <p:nvSpPr>
            <p:cNvPr id="113" name="Google Shape;113;p3"/>
            <p:cNvSpPr/>
            <p:nvPr/>
          </p:nvSpPr>
          <p:spPr>
            <a:xfrm>
              <a:off x="0" y="52173"/>
              <a:ext cx="8269800" cy="3824461"/>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33805" y="846009"/>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940705" y="148691"/>
              <a:ext cx="6995400" cy="3296584"/>
            </a:xfrm>
            <a:prstGeom prst="rect">
              <a:avLst/>
            </a:prstGeom>
            <a:noFill/>
            <a:ln>
              <a:noFill/>
            </a:ln>
          </p:spPr>
          <p:txBody>
            <a:bodyPr spcFirstLastPara="1" wrap="square" lIns="116775" tIns="116775" rIns="116775" bIns="116775" anchor="ctr" anchorCtr="0">
              <a:noAutofit/>
            </a:bodyPr>
            <a:lstStyle/>
            <a:p>
              <a:pPr marL="0" marR="0" lvl="0" indent="0" algn="just" rtl="0">
                <a:lnSpc>
                  <a:spcPct val="115000"/>
                </a:lnSpc>
                <a:spcBef>
                  <a:spcPts val="1200"/>
                </a:spcBef>
                <a:spcAft>
                  <a:spcPts val="0"/>
                </a:spcAft>
                <a:buClr>
                  <a:schemeClr val="dk1"/>
                </a:buClr>
                <a:buSzPts val="1100"/>
                <a:buFont typeface="Arial"/>
                <a:buNone/>
              </a:pPr>
              <a:endParaRPr lang="es-MX" sz="23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El objetivo de esta práctica es desarrollar un servicio web en Java que permita la conversión de unidades de longitud entre centímetros y pulgadas. </a:t>
              </a: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La práctica busca: </a:t>
              </a:r>
            </a:p>
            <a:p>
              <a:pPr marL="342900" marR="0" lvl="0" indent="-342900" algn="just" rtl="0">
                <a:lnSpc>
                  <a:spcPct val="115000"/>
                </a:lnSpc>
                <a:spcBef>
                  <a:spcPts val="1200"/>
                </a:spcBef>
                <a:spcAft>
                  <a:spcPts val="0"/>
                </a:spcAft>
                <a:buClr>
                  <a:schemeClr val="dk1"/>
                </a:buClr>
                <a:buSzPts val="1100"/>
                <a:buFont typeface="Arial" panose="020B0604020202020204" pitchFamily="34" charset="0"/>
                <a:buChar char="•"/>
              </a:pPr>
              <a:r>
                <a:rPr lang="es-MX" sz="2300" dirty="0">
                  <a:solidFill>
                    <a:schemeClr val="dk1"/>
                  </a:solidFill>
                  <a:latin typeface="Gill Sans"/>
                </a:rPr>
                <a:t>Implementar un servicio web que exponga métodos para convertir unidades de longitud.</a:t>
              </a:r>
            </a:p>
            <a:p>
              <a:pPr marL="342900" indent="-342900" algn="just">
                <a:lnSpc>
                  <a:spcPct val="115000"/>
                </a:lnSpc>
                <a:spcBef>
                  <a:spcPts val="1200"/>
                </a:spcBef>
                <a:buClr>
                  <a:schemeClr val="dk1"/>
                </a:buClr>
                <a:buSzPts val="1100"/>
                <a:buFont typeface="Arial" panose="020B0604020202020204" pitchFamily="34" charset="0"/>
                <a:buChar char="•"/>
              </a:pPr>
              <a:r>
                <a:rPr lang="es-MX" sz="2300" dirty="0">
                  <a:solidFill>
                    <a:schemeClr val="dk1"/>
                  </a:solidFill>
                  <a:latin typeface="Gill Sans"/>
                </a:rPr>
                <a:t>Utilizar la tecnología Java para crear, desplegar y consumir servicios web.</a:t>
              </a:r>
            </a:p>
            <a:p>
              <a:pPr marL="0" marR="0" lvl="0" indent="0" algn="just" rtl="0">
                <a:lnSpc>
                  <a:spcPct val="115000"/>
                </a:lnSpc>
                <a:spcBef>
                  <a:spcPts val="1200"/>
                </a:spcBef>
                <a:spcAft>
                  <a:spcPts val="0"/>
                </a:spcAft>
                <a:buClr>
                  <a:schemeClr val="dk1"/>
                </a:buClr>
                <a:buSzPts val="1100"/>
                <a:buFont typeface="Arial"/>
                <a:buNone/>
              </a:pPr>
              <a:endParaRPr sz="2300" b="0" i="0" u="none" strike="noStrike" cap="none" dirty="0">
                <a:solidFill>
                  <a:schemeClr val="dk1"/>
                </a:solidFill>
                <a:latin typeface="Gill Sans"/>
                <a:ea typeface="Gill Sans"/>
                <a:cs typeface="Gill Sans"/>
                <a:sym typeface="Gill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OBJETIVOS ESPECIFICOS</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581192" y="2081724"/>
            <a:ext cx="8337049" cy="4376166"/>
            <a:chOff x="-43008" y="597724"/>
            <a:chExt cx="8312941" cy="5380751"/>
          </a:xfrm>
        </p:grpSpPr>
        <p:sp>
          <p:nvSpPr>
            <p:cNvPr id="113" name="Google Shape;113;p3"/>
            <p:cNvSpPr/>
            <p:nvPr/>
          </p:nvSpPr>
          <p:spPr>
            <a:xfrm>
              <a:off x="-43008" y="1121588"/>
              <a:ext cx="8269800" cy="4856887"/>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64182" y="1950828"/>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1274533" y="1701123"/>
              <a:ext cx="6995400" cy="4073905"/>
            </a:xfrm>
            <a:prstGeom prst="rect">
              <a:avLst/>
            </a:prstGeom>
            <a:noFill/>
            <a:ln>
              <a:noFill/>
            </a:ln>
          </p:spPr>
          <p:txBody>
            <a:bodyPr spcFirstLastPara="1" wrap="square" lIns="116775" tIns="116775" rIns="116775" bIns="116775" anchor="ctr" anchorCtr="0">
              <a:noAutofit/>
            </a:bodyPr>
            <a:lstStyle/>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Estructurar el proyecto en paquetes lógicos (</a:t>
              </a:r>
              <a:r>
                <a:rPr lang="es-EC" altLang="es-EC" sz="1600" dirty="0" err="1">
                  <a:solidFill>
                    <a:schemeClr val="dk1"/>
                  </a:solidFill>
                  <a:latin typeface="Gill Sans"/>
                </a:rPr>
                <a:t>mvc</a:t>
              </a:r>
              <a:r>
                <a:rPr lang="es-EC" altLang="es-EC" sz="1600" dirty="0">
                  <a:solidFill>
                    <a:schemeClr val="dk1"/>
                  </a:solidFill>
                  <a:latin typeface="Gill Sans"/>
                </a:rPr>
                <a:t>) para mejorar la organización y mantenibilidad del código.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Aplicar principios de la programación orientada a objetos en la implementación de la lógica de negocio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Crear clases de prueba en el paquete prueba para verificar el correcto funcionamiento de los métodos de conversión.</a:t>
              </a:r>
            </a:p>
            <a:p>
              <a:pPr eaLnBrk="0" fontAlgn="base" hangingPunct="0">
                <a:spcBef>
                  <a:spcPct val="0"/>
                </a:spcBef>
                <a:spcAft>
                  <a:spcPct val="0"/>
                </a:spcAft>
                <a:buClrTx/>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Utilizar las clases de prueba para ejecutar pruebas y validar los resultados en la consola. </a:t>
              </a:r>
            </a:p>
            <a:p>
              <a:pPr marL="285750" lvl="0" indent="-285750" eaLnBrk="0" fontAlgn="base" hangingPunct="0">
                <a:spcBef>
                  <a:spcPct val="0"/>
                </a:spcBef>
                <a:spcAft>
                  <a:spcPct val="0"/>
                </a:spcAft>
                <a:buClrTx/>
                <a:buFont typeface="Arial" panose="020B0604020202020204" pitchFamily="34" charset="0"/>
                <a:buChar char="•"/>
              </a:pPr>
              <a:endParaRPr lang="es-MX" sz="16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endParaRPr lang="es-MX" sz="2300" b="0" i="0" u="none" strike="noStrike" cap="none" dirty="0">
                <a:solidFill>
                  <a:schemeClr val="dk1"/>
                </a:solidFill>
                <a:latin typeface="Gill Sans"/>
                <a:ea typeface="Gill Sans"/>
                <a:cs typeface="Gill Sans"/>
                <a:sym typeface="Gill Sans"/>
              </a:endParaRPr>
            </a:p>
          </p:txBody>
        </p:sp>
      </p:grpSp>
    </p:spTree>
    <p:extLst>
      <p:ext uri="{BB962C8B-B14F-4D97-AF65-F5344CB8AC3E}">
        <p14:creationId xmlns:p14="http://schemas.microsoft.com/office/powerpoint/2010/main" val="520161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2" name="Google Shape;122;p7"/>
          <p:cNvSpPr/>
          <p:nvPr/>
        </p:nvSpPr>
        <p:spPr>
          <a:xfrm>
            <a:off x="581190" y="457201"/>
            <a:ext cx="7363959" cy="9143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8239774" y="453643"/>
            <a:ext cx="329184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581189" y="681070"/>
            <a:ext cx="7363960" cy="56933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5" name="Google Shape;125;p7"/>
          <p:cNvSpPr txBox="1">
            <a:spLocks noGrp="1"/>
          </p:cNvSpPr>
          <p:nvPr>
            <p:ph type="title"/>
          </p:nvPr>
        </p:nvSpPr>
        <p:spPr>
          <a:xfrm>
            <a:off x="996381" y="1152939"/>
            <a:ext cx="6583680" cy="453911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5400"/>
              <a:buFont typeface="Gill Sans"/>
              <a:buNone/>
            </a:pPr>
            <a:r>
              <a:rPr lang="es-ES" sz="5400">
                <a:solidFill>
                  <a:srgbClr val="FFFFFF"/>
                </a:solidFill>
              </a:rPr>
              <a:t>2	DESARROLLO</a:t>
            </a:r>
            <a:endParaRPr sz="5400">
              <a:solidFill>
                <a:srgbClr val="FFFFFF"/>
              </a:solidFill>
            </a:endParaRPr>
          </a:p>
        </p:txBody>
      </p:sp>
      <p:sp>
        <p:nvSpPr>
          <p:cNvPr id="126" name="Google Shape;126;p7"/>
          <p:cNvSpPr txBox="1">
            <a:spLocks noGrp="1"/>
          </p:cNvSpPr>
          <p:nvPr>
            <p:ph type="body" idx="1"/>
          </p:nvPr>
        </p:nvSpPr>
        <p:spPr>
          <a:xfrm>
            <a:off x="8210681" y="1152939"/>
            <a:ext cx="3400126" cy="4539113"/>
          </a:xfrm>
          <a:prstGeom prst="rect">
            <a:avLst/>
          </a:prstGeom>
          <a:noFill/>
          <a:ln>
            <a:noFill/>
          </a:ln>
        </p:spPr>
        <p:txBody>
          <a:bodyPr spcFirstLastPara="1" wrap="square" lIns="91425" tIns="45700" rIns="91425" bIns="45700" anchor="ctr" anchorCtr="0">
            <a:normAutofit/>
          </a:bodyPr>
          <a:lstStyle/>
          <a:p>
            <a:pPr marL="306000" lvl="0" indent="0" algn="l" rtl="0">
              <a:lnSpc>
                <a:spcPct val="100000"/>
              </a:lnSpc>
              <a:spcBef>
                <a:spcPts val="0"/>
              </a:spcBef>
              <a:spcAft>
                <a:spcPts val="0"/>
              </a:spcAft>
              <a:buSzPts val="1656"/>
              <a:buNone/>
            </a:pPr>
            <a:endParaRPr/>
          </a:p>
          <a:p>
            <a:pPr marL="306000" lvl="0" indent="-200844" algn="l" rtl="0">
              <a:lnSpc>
                <a:spcPct val="100000"/>
              </a:lnSpc>
              <a:spcBef>
                <a:spcPts val="960"/>
              </a:spcBef>
              <a:spcAft>
                <a:spcPts val="0"/>
              </a:spcAft>
              <a:buSzPts val="1656"/>
              <a:buNone/>
            </a:pPr>
            <a:endParaRPr/>
          </a:p>
        </p:txBody>
      </p:sp>
      <p:sp>
        <p:nvSpPr>
          <p:cNvPr id="127" name="Google Shape;127;p7"/>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MX"/>
              <a:t>2.1.1.	CREACIÓN DEL PROYECTO SERVIDOR </a:t>
            </a:r>
            <a:endParaRPr lang="es-ES"/>
          </a:p>
        </p:txBody>
      </p:sp>
      <p:sp>
        <p:nvSpPr>
          <p:cNvPr id="133" name="Google Shape;133;p8"/>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8</a:t>
            </a:r>
            <a:endParaRPr sz="1400" b="0" i="0" u="none" strike="noStrike" cap="none">
              <a:solidFill>
                <a:srgbClr val="000000"/>
              </a:solidFill>
              <a:latin typeface="Arial"/>
              <a:ea typeface="Arial"/>
              <a:cs typeface="Arial"/>
              <a:sym typeface="Arial"/>
            </a:endParaRPr>
          </a:p>
        </p:txBody>
      </p:sp>
      <p:sp>
        <p:nvSpPr>
          <p:cNvPr id="134" name="Google Shape;134;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5" name="Google Shape;135;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7" name="Google Shape;137;p8"/>
          <p:cNvSpPr txBox="1">
            <a:spLocks noGrp="1"/>
          </p:cNvSpPr>
          <p:nvPr>
            <p:ph type="body" idx="1"/>
          </p:nvPr>
        </p:nvSpPr>
        <p:spPr>
          <a:xfrm>
            <a:off x="0" y="205780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dirty="0">
                <a:solidFill>
                  <a:schemeClr val="dk1"/>
                </a:solidFill>
              </a:rPr>
              <a:t>Para empezar con la creación del web </a:t>
            </a:r>
            <a:r>
              <a:rPr lang="es-ES" dirty="0" err="1">
                <a:solidFill>
                  <a:schemeClr val="dk1"/>
                </a:solidFill>
              </a:rPr>
              <a:t>service</a:t>
            </a:r>
            <a:r>
              <a:rPr lang="es-ES" dirty="0">
                <a:solidFill>
                  <a:schemeClr val="dk1"/>
                </a:solidFill>
              </a:rPr>
              <a:t> con base de datos en java, se tendrá de que crear un proyecto de tipo “Web </a:t>
            </a:r>
            <a:r>
              <a:rPr lang="es-ES" dirty="0" err="1">
                <a:solidFill>
                  <a:schemeClr val="dk1"/>
                </a:solidFill>
              </a:rPr>
              <a:t>Aplication</a:t>
            </a:r>
            <a:r>
              <a:rPr lang="es-ES" dirty="0">
                <a:solidFill>
                  <a:schemeClr val="dk1"/>
                </a:solidFill>
              </a:rPr>
              <a:t>”. </a:t>
            </a:r>
            <a:endParaRPr dirty="0">
              <a:solidFill>
                <a:schemeClr val="dk1"/>
              </a:solidFill>
            </a:endParaRPr>
          </a:p>
          <a:p>
            <a:pPr marL="457200" lvl="0" indent="0" algn="l" rtl="0">
              <a:lnSpc>
                <a:spcPct val="115000"/>
              </a:lnSpc>
              <a:spcBef>
                <a:spcPts val="0"/>
              </a:spcBef>
              <a:spcAft>
                <a:spcPts val="0"/>
              </a:spcAft>
              <a:buNone/>
            </a:pPr>
            <a:endParaRPr dirty="0">
              <a:solidFill>
                <a:schemeClr val="dk1"/>
              </a:solidFill>
            </a:endParaRPr>
          </a:p>
          <a:p>
            <a:pPr marL="306000" lvl="0" indent="0" algn="l" rtl="0">
              <a:lnSpc>
                <a:spcPct val="115000"/>
              </a:lnSpc>
              <a:spcBef>
                <a:spcPts val="1200"/>
              </a:spcBef>
              <a:spcAft>
                <a:spcPts val="0"/>
              </a:spcAft>
              <a:buSzPts val="1948"/>
              <a:buNone/>
            </a:pP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138" name="Google Shape;138;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B43EAEB2-3F1D-431B-914A-3528CEBBB196}"/>
              </a:ext>
            </a:extLst>
          </p:cNvPr>
          <p:cNvPicPr>
            <a:picLocks noChangeAspect="1"/>
          </p:cNvPicPr>
          <p:nvPr/>
        </p:nvPicPr>
        <p:blipFill>
          <a:blip r:embed="rId3"/>
          <a:stretch>
            <a:fillRect/>
          </a:stretch>
        </p:blipFill>
        <p:spPr>
          <a:xfrm>
            <a:off x="3458309" y="2229250"/>
            <a:ext cx="5421393" cy="37286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524d66b2ad_0_10"/>
          <p:cNvSpPr txBox="1">
            <a:spLocks noGrp="1"/>
          </p:cNvSpPr>
          <p:nvPr>
            <p:ph type="body" idx="1"/>
          </p:nvPr>
        </p:nvSpPr>
        <p:spPr>
          <a:xfrm>
            <a:off x="4928123" y="222741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dirty="0">
                <a:solidFill>
                  <a:schemeClr val="dk1"/>
                </a:solidFill>
              </a:rPr>
              <a:t>El proyecto correrá en Payara Server con </a:t>
            </a:r>
            <a:r>
              <a:rPr lang="es-ES" dirty="0" err="1">
                <a:solidFill>
                  <a:schemeClr val="dk1"/>
                </a:solidFill>
              </a:rPr>
              <a:t>Jakarta</a:t>
            </a:r>
            <a:r>
              <a:rPr lang="es-ES" dirty="0">
                <a:solidFill>
                  <a:schemeClr val="dk1"/>
                </a:solidFill>
              </a:rPr>
              <a:t> EE 11 web para una compatibilidad correcta. </a:t>
            </a:r>
            <a:endParaRPr dirty="0">
              <a:solidFill>
                <a:schemeClr val="dk1"/>
              </a:solidFill>
            </a:endParaRPr>
          </a:p>
          <a:p>
            <a:pPr marL="0" lvl="0" indent="0" algn="l" rtl="0">
              <a:lnSpc>
                <a:spcPct val="115000"/>
              </a:lnSpc>
              <a:spcBef>
                <a:spcPts val="1200"/>
              </a:spcBef>
              <a:spcAft>
                <a:spcPts val="0"/>
              </a:spcAft>
              <a:buClr>
                <a:schemeClr val="dk1"/>
              </a:buClr>
              <a:buSzPts val="1656"/>
              <a:buNone/>
            </a:pPr>
            <a:r>
              <a:rPr lang="es-ES" dirty="0">
                <a:solidFill>
                  <a:schemeClr val="dk1"/>
                </a:solidFill>
              </a:rPr>
              <a:t> </a:t>
            </a:r>
            <a:endParaRPr dirty="0">
              <a:solidFill>
                <a:schemeClr val="dk1"/>
              </a:solidFill>
            </a:endParaRPr>
          </a:p>
          <a:p>
            <a:pPr marL="306000" lvl="0" indent="0" algn="l" rtl="0">
              <a:lnSpc>
                <a:spcPct val="115000"/>
              </a:lnSpc>
              <a:spcBef>
                <a:spcPts val="1200"/>
              </a:spcBef>
              <a:spcAft>
                <a:spcPts val="0"/>
              </a:spcAft>
              <a:buSzPts val="1948"/>
              <a:buNone/>
            </a:pP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154" name="Google Shape;154;g2524d66b2ad_0_1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55" name="Google Shape;155;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7" name="Google Shape;157;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9" name="Google Shape;159;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4" name="Imagen 3">
            <a:extLst>
              <a:ext uri="{FF2B5EF4-FFF2-40B4-BE49-F238E27FC236}">
                <a16:creationId xmlns:a16="http://schemas.microsoft.com/office/drawing/2014/main" id="{1FA55728-355F-48E3-A9DD-D829A56EDE1A}"/>
              </a:ext>
            </a:extLst>
          </p:cNvPr>
          <p:cNvPicPr>
            <a:picLocks noChangeAspect="1"/>
          </p:cNvPicPr>
          <p:nvPr/>
        </p:nvPicPr>
        <p:blipFill>
          <a:blip r:embed="rId3"/>
          <a:stretch>
            <a:fillRect/>
          </a:stretch>
        </p:blipFill>
        <p:spPr>
          <a:xfrm>
            <a:off x="693500" y="2227410"/>
            <a:ext cx="4234623" cy="29352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2524d66b2ad_0_22"/>
          <p:cNvSpPr txBox="1">
            <a:spLocks noGrp="1"/>
          </p:cNvSpPr>
          <p:nvPr>
            <p:ph type="body" idx="1"/>
          </p:nvPr>
        </p:nvSpPr>
        <p:spPr>
          <a:xfrm>
            <a:off x="397608" y="2126657"/>
            <a:ext cx="3312300" cy="4400100"/>
          </a:xfrm>
          <a:prstGeom prst="rect">
            <a:avLst/>
          </a:prstGeom>
          <a:noFill/>
          <a:ln>
            <a:noFill/>
          </a:ln>
        </p:spPr>
        <p:txBody>
          <a:bodyPr spcFirstLastPara="1" wrap="square" lIns="91425" tIns="45700" rIns="91425" bIns="45700" anchor="ctr" anchorCtr="0">
            <a:normAutofit/>
          </a:bodyPr>
          <a:lstStyle/>
          <a:p>
            <a:pPr marL="306000" lvl="0" indent="-290225" algn="l" rtl="0">
              <a:lnSpc>
                <a:spcPct val="115000"/>
              </a:lnSpc>
              <a:spcBef>
                <a:spcPts val="1200"/>
              </a:spcBef>
              <a:spcAft>
                <a:spcPts val="0"/>
              </a:spcAft>
              <a:buClr>
                <a:schemeClr val="dk1"/>
              </a:buClr>
              <a:buSzPct val="91998"/>
              <a:buChar char="◼"/>
            </a:pPr>
            <a:r>
              <a:rPr lang="es-MX" dirty="0">
                <a:solidFill>
                  <a:schemeClr val="dk1"/>
                </a:solidFill>
              </a:rPr>
              <a:t>Una vez seleccionada la opción de Java Package, se le dará el nombre de la capa deseada como se indicó anteriormente. En este caso se crearán las capas de modelo, pruebas, servicios y web services y luego se procede a la codificacion.</a:t>
            </a: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165" name="Google Shape;165;g2524d66b2ad_0_22"/>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66" name="Google Shape;166;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67" name="Google Shape;167;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70" name="Google Shape;170;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92D423EF-12D3-125D-3074-55772CB38033}"/>
              </a:ext>
            </a:extLst>
          </p:cNvPr>
          <p:cNvPicPr>
            <a:picLocks noChangeAspect="1"/>
          </p:cNvPicPr>
          <p:nvPr/>
        </p:nvPicPr>
        <p:blipFill rotWithShape="1">
          <a:blip r:embed="rId3"/>
          <a:srcRect b="22413"/>
          <a:stretch/>
        </p:blipFill>
        <p:spPr>
          <a:xfrm>
            <a:off x="3961911" y="3429000"/>
            <a:ext cx="4727575" cy="120015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ddeedea7d3_1_27"/>
          <p:cNvSpPr txBox="1">
            <a:spLocks noGrp="1"/>
          </p:cNvSpPr>
          <p:nvPr>
            <p:ph type="body" idx="1"/>
          </p:nvPr>
        </p:nvSpPr>
        <p:spPr>
          <a:xfrm>
            <a:off x="581200" y="2180500"/>
            <a:ext cx="3312300" cy="4400100"/>
          </a:xfrm>
          <a:prstGeom prst="rect">
            <a:avLst/>
          </a:prstGeom>
          <a:noFill/>
          <a:ln>
            <a:noFill/>
          </a:ln>
        </p:spPr>
        <p:txBody>
          <a:bodyPr spcFirstLastPara="1" wrap="square" lIns="91425" tIns="45700" rIns="91425" bIns="45700" anchor="ctr" anchorCtr="0">
            <a:normAutofit/>
          </a:bodyPr>
          <a:lstStyle/>
          <a:p>
            <a:r>
              <a:rPr lang="es-EC" dirty="0"/>
              <a:t>Realizado el servidor se avanza a la aplicación cliente, para ello se crea un nuevo proyecto de tipo Java </a:t>
            </a:r>
            <a:r>
              <a:rPr lang="es-EC" dirty="0" err="1"/>
              <a:t>Application</a:t>
            </a:r>
            <a:r>
              <a:rPr lang="es-EC" dirty="0"/>
              <a:t> llamado </a:t>
            </a:r>
            <a:r>
              <a:rPr lang="es-EC" dirty="0" err="1"/>
              <a:t>ConversorWS</a:t>
            </a:r>
            <a:r>
              <a:rPr lang="es-EC" dirty="0"/>
              <a:t>.</a:t>
            </a:r>
          </a:p>
          <a:p>
            <a:pPr marL="306000" lvl="0" indent="0" algn="just" rtl="0">
              <a:lnSpc>
                <a:spcPct val="115000"/>
              </a:lnSpc>
              <a:spcBef>
                <a:spcPts val="1200"/>
              </a:spcBef>
              <a:spcAft>
                <a:spcPts val="1200"/>
              </a:spcAft>
              <a:buSzPts val="1656"/>
              <a:buNone/>
            </a:pPr>
            <a:endParaRPr dirty="0">
              <a:solidFill>
                <a:schemeClr val="dk1"/>
              </a:solidFill>
            </a:endParaRPr>
          </a:p>
        </p:txBody>
      </p:sp>
      <p:sp>
        <p:nvSpPr>
          <p:cNvPr id="339" name="Google Shape;339;g1ddeedea7d3_1_27"/>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40" name="Google Shape;340;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1" name="Google Shape;341;g1ddeedea7d3_1_27"/>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2.2 CREACIÓN DEL PROYECTO </a:t>
            </a:r>
            <a:r>
              <a:rPr lang="es-EC"/>
              <a:t>ESCRITORIO CLIENTE</a:t>
            </a:r>
            <a:endParaRPr/>
          </a:p>
        </p:txBody>
      </p:sp>
      <p:sp>
        <p:nvSpPr>
          <p:cNvPr id="342" name="Google Shape;342;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4" name="Google Shape;344;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34322626-28B3-4438-AA20-CFA24CB8EDAB}"/>
              </a:ext>
            </a:extLst>
          </p:cNvPr>
          <p:cNvPicPr>
            <a:picLocks noChangeAspect="1"/>
          </p:cNvPicPr>
          <p:nvPr/>
        </p:nvPicPr>
        <p:blipFill>
          <a:blip r:embed="rId3"/>
          <a:stretch>
            <a:fillRect/>
          </a:stretch>
        </p:blipFill>
        <p:spPr>
          <a:xfrm>
            <a:off x="4792813" y="2362114"/>
            <a:ext cx="3505689" cy="37533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524d66b2ad_0_260"/>
          <p:cNvSpPr txBox="1">
            <a:spLocks noGrp="1"/>
          </p:cNvSpPr>
          <p:nvPr>
            <p:ph type="body" idx="1"/>
          </p:nvPr>
        </p:nvSpPr>
        <p:spPr>
          <a:xfrm>
            <a:off x="393454" y="2027310"/>
            <a:ext cx="3312300" cy="4400100"/>
          </a:xfrm>
          <a:prstGeom prst="rect">
            <a:avLst/>
          </a:prstGeom>
          <a:noFill/>
          <a:ln>
            <a:noFill/>
          </a:ln>
        </p:spPr>
        <p:txBody>
          <a:bodyPr spcFirstLastPara="1" wrap="square" lIns="91425" tIns="45700" rIns="91425" bIns="45700" anchor="ctr" anchorCtr="0">
            <a:normAutofit fontScale="92500" lnSpcReduction="10000"/>
          </a:bodyPr>
          <a:lstStyle/>
          <a:p>
            <a:pPr marL="306000" lvl="0" indent="0" algn="l" rtl="0">
              <a:lnSpc>
                <a:spcPct val="115000"/>
              </a:lnSpc>
              <a:spcBef>
                <a:spcPts val="1200"/>
              </a:spcBef>
              <a:spcAft>
                <a:spcPts val="0"/>
              </a:spcAft>
              <a:buSzPct val="108235"/>
              <a:buNone/>
            </a:pPr>
            <a:r>
              <a:rPr lang="es-MX">
                <a:solidFill>
                  <a:schemeClr val="dk1"/>
                </a:solidFill>
              </a:rPr>
              <a:t>Después de la creación de la aplicación, el paso inicial implica la generación del cliente del servicio web. Para hacerlo, se hace clic derecho en la aplicación recién creada y se selecciona la opción "Web Service Client". Durante la configuración del cliente del servicio web, se empleará la URL del WSDL para consumir los servicios web del proyecto servidor, y se especificará que el paquete de destino sea "ec.edu.monster.ws".</a:t>
            </a:r>
            <a:endParaRPr>
              <a:solidFill>
                <a:schemeClr val="dk1"/>
              </a:solidFill>
            </a:endParaRPr>
          </a:p>
          <a:p>
            <a:pPr marL="306000" lvl="0" indent="0" algn="just" rtl="0">
              <a:lnSpc>
                <a:spcPct val="115000"/>
              </a:lnSpc>
              <a:spcBef>
                <a:spcPts val="1200"/>
              </a:spcBef>
              <a:spcAft>
                <a:spcPts val="1200"/>
              </a:spcAft>
              <a:buSzPct val="108235"/>
              <a:buNone/>
            </a:pPr>
            <a:endParaRPr>
              <a:solidFill>
                <a:schemeClr val="dk1"/>
              </a:solidFill>
            </a:endParaRPr>
          </a:p>
        </p:txBody>
      </p:sp>
      <p:sp>
        <p:nvSpPr>
          <p:cNvPr id="350" name="Google Shape;350;g2524d66b2ad_0_26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51" name="Google Shape;351;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2" name="Google Shape;352;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5" name="Google Shape;355;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8" name="Imagen 7">
            <a:extLst>
              <a:ext uri="{FF2B5EF4-FFF2-40B4-BE49-F238E27FC236}">
                <a16:creationId xmlns:a16="http://schemas.microsoft.com/office/drawing/2014/main" id="{6253BA09-379B-4E92-AB2C-E24C0CBC191D}"/>
              </a:ext>
            </a:extLst>
          </p:cNvPr>
          <p:cNvPicPr/>
          <p:nvPr/>
        </p:nvPicPr>
        <p:blipFill>
          <a:blip r:embed="rId3"/>
          <a:stretch>
            <a:fillRect/>
          </a:stretch>
        </p:blipFill>
        <p:spPr>
          <a:xfrm>
            <a:off x="4043044" y="2228849"/>
            <a:ext cx="4694555" cy="365040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2524d66b2ad_0_275"/>
          <p:cNvSpPr txBox="1">
            <a:spLocks noGrp="1"/>
          </p:cNvSpPr>
          <p:nvPr>
            <p:ph type="body" idx="1"/>
          </p:nvPr>
        </p:nvSpPr>
        <p:spPr>
          <a:xfrm>
            <a:off x="671455" y="2603043"/>
            <a:ext cx="3312300" cy="3702930"/>
          </a:xfrm>
          <a:prstGeom prst="rect">
            <a:avLst/>
          </a:prstGeom>
          <a:noFill/>
          <a:ln>
            <a:noFill/>
          </a:ln>
        </p:spPr>
        <p:txBody>
          <a:bodyPr spcFirstLastPara="1" wrap="square" lIns="91425" tIns="45700" rIns="91425" bIns="45700" anchor="ctr" anchorCtr="0">
            <a:normAutofit/>
          </a:bodyPr>
          <a:lstStyle/>
          <a:p>
            <a:pPr marL="306000" lvl="0" indent="-290225" algn="l" rtl="0">
              <a:lnSpc>
                <a:spcPct val="115000"/>
              </a:lnSpc>
              <a:spcBef>
                <a:spcPts val="1200"/>
              </a:spcBef>
              <a:spcAft>
                <a:spcPts val="0"/>
              </a:spcAft>
              <a:buClr>
                <a:schemeClr val="dk1"/>
              </a:buClr>
              <a:buSzPct val="91998"/>
              <a:buChar char="◼"/>
            </a:pPr>
            <a:r>
              <a:rPr lang="es-ES" dirty="0">
                <a:solidFill>
                  <a:schemeClr val="dk1"/>
                </a:solidFill>
              </a:rPr>
              <a:t>Al darle a finalizar, empezará una descarga de JAX-WS por lo que se debe esperar a que termine, para que la conexión esté hecha con éxito. Al terminar la descarga, se generará una carpeta y el proyecto debe quedar de la siguiente manera: </a:t>
            </a:r>
            <a:endParaRPr dirty="0">
              <a:solidFill>
                <a:schemeClr val="dk1"/>
              </a:solidFill>
            </a:endParaRPr>
          </a:p>
          <a:p>
            <a:pPr marL="306000" lvl="0" indent="0" algn="l" rtl="0">
              <a:lnSpc>
                <a:spcPct val="115000"/>
              </a:lnSpc>
              <a:spcBef>
                <a:spcPts val="1200"/>
              </a:spcBef>
              <a:spcAft>
                <a:spcPts val="0"/>
              </a:spcAft>
              <a:buSzPct val="108235"/>
              <a:buNone/>
            </a:pP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361" name="Google Shape;361;g2524d66b2ad_0_27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62" name="Google Shape;362;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3" name="Google Shape;363;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6" name="Google Shape;366;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A5E2F4F9-B0DD-4E5D-BA4F-40838E494ECA}"/>
              </a:ext>
            </a:extLst>
          </p:cNvPr>
          <p:cNvPicPr>
            <a:picLocks noChangeAspect="1"/>
          </p:cNvPicPr>
          <p:nvPr/>
        </p:nvPicPr>
        <p:blipFill>
          <a:blip r:embed="rId3"/>
          <a:stretch>
            <a:fillRect/>
          </a:stretch>
        </p:blipFill>
        <p:spPr>
          <a:xfrm>
            <a:off x="4419366" y="2481087"/>
            <a:ext cx="4197154" cy="31359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Al mismo tiempo se creará un formulario (JFrame </a:t>
            </a:r>
            <a:r>
              <a:rPr lang="es-MX" dirty="0" err="1">
                <a:solidFill>
                  <a:schemeClr val="dk1"/>
                </a:solidFill>
              </a:rPr>
              <a:t>Form</a:t>
            </a:r>
            <a:r>
              <a:rPr lang="es-MX" dirty="0">
                <a:solidFill>
                  <a:schemeClr val="dk1"/>
                </a:solidFill>
              </a:rPr>
              <a:t>)  para </a:t>
            </a:r>
            <a:r>
              <a:rPr lang="es-EC" dirty="0">
                <a:solidFill>
                  <a:schemeClr val="dk1"/>
                </a:solidFill>
              </a:rPr>
              <a:t>el Inicio de Sesión</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732C3ACF-8E27-42F7-BB9A-55AA5D9C9FC3}"/>
              </a:ext>
            </a:extLst>
          </p:cNvPr>
          <p:cNvPicPr>
            <a:picLocks noChangeAspect="1"/>
          </p:cNvPicPr>
          <p:nvPr/>
        </p:nvPicPr>
        <p:blipFill>
          <a:blip r:embed="rId3"/>
          <a:stretch>
            <a:fillRect/>
          </a:stretch>
        </p:blipFill>
        <p:spPr>
          <a:xfrm>
            <a:off x="3803425" y="2325019"/>
            <a:ext cx="5226005" cy="30744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De igual manera se creará un formulario (JFrame </a:t>
            </a:r>
            <a:r>
              <a:rPr lang="es-MX" dirty="0" err="1">
                <a:solidFill>
                  <a:schemeClr val="dk1"/>
                </a:solidFill>
              </a:rPr>
              <a:t>Form</a:t>
            </a:r>
            <a:r>
              <a:rPr lang="es-MX" dirty="0">
                <a:solidFill>
                  <a:schemeClr val="dk1"/>
                </a:solidFill>
              </a:rPr>
              <a:t>)  </a:t>
            </a:r>
            <a:r>
              <a:rPr lang="es-EC" dirty="0">
                <a:solidFill>
                  <a:schemeClr val="dk1"/>
                </a:solidFill>
              </a:rPr>
              <a:t>para la conversión de unidades</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D71A054E-8EAD-49EA-B38D-B123DFDB8514}"/>
              </a:ext>
            </a:extLst>
          </p:cNvPr>
          <p:cNvPicPr>
            <a:picLocks noChangeAspect="1"/>
          </p:cNvPicPr>
          <p:nvPr/>
        </p:nvPicPr>
        <p:blipFill>
          <a:blip r:embed="rId3"/>
          <a:stretch>
            <a:fillRect/>
          </a:stretch>
        </p:blipFill>
        <p:spPr>
          <a:xfrm>
            <a:off x="3955634" y="2528258"/>
            <a:ext cx="4778149" cy="2953284"/>
          </a:xfrm>
          <a:prstGeom prst="rect">
            <a:avLst/>
          </a:prstGeom>
        </p:spPr>
      </p:pic>
    </p:spTree>
    <p:extLst>
      <p:ext uri="{BB962C8B-B14F-4D97-AF65-F5344CB8AC3E}">
        <p14:creationId xmlns:p14="http://schemas.microsoft.com/office/powerpoint/2010/main" val="1664165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1dc40ab34ca_0_21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a:t>
            </a:r>
            <a:endParaRPr/>
          </a:p>
          <a:p>
            <a:pPr marL="0" lvl="0" indent="0" algn="l" rtl="0">
              <a:lnSpc>
                <a:spcPct val="100000"/>
              </a:lnSpc>
              <a:spcBef>
                <a:spcPts val="0"/>
              </a:spcBef>
              <a:spcAft>
                <a:spcPts val="0"/>
              </a:spcAft>
              <a:buClr>
                <a:schemeClr val="lt1"/>
              </a:buClr>
              <a:buSzPct val="100000"/>
              <a:buFont typeface="Gill Sans"/>
              <a:buNone/>
            </a:pPr>
            <a:r>
              <a:rPr lang="es-ES"/>
              <a:t>DE CONSOLA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437" name="Google Shape;437;g1dc40ab34ca_0_21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38" name="Google Shape;438;g1dc40ab34ca_0_21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439" name="Google Shape;439;g1dc40ab34ca_0_21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440" name="Google Shape;440;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1" name="Google Shape;441;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3" name="Google Shape;443;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C14C1D70-C01D-4800-AE1F-4F49EE689950}"/>
              </a:ext>
            </a:extLst>
          </p:cNvPr>
          <p:cNvPicPr>
            <a:picLocks noChangeAspect="1"/>
          </p:cNvPicPr>
          <p:nvPr/>
        </p:nvPicPr>
        <p:blipFill rotWithShape="1">
          <a:blip r:embed="rId3"/>
          <a:srcRect b="52697"/>
          <a:stretch/>
        </p:blipFill>
        <p:spPr>
          <a:xfrm>
            <a:off x="2637407" y="2200864"/>
            <a:ext cx="4173523" cy="1058386"/>
          </a:xfrm>
          <a:prstGeom prst="rect">
            <a:avLst/>
          </a:prstGeom>
        </p:spPr>
      </p:pic>
      <p:pic>
        <p:nvPicPr>
          <p:cNvPr id="5" name="Imagen 4">
            <a:extLst>
              <a:ext uri="{FF2B5EF4-FFF2-40B4-BE49-F238E27FC236}">
                <a16:creationId xmlns:a16="http://schemas.microsoft.com/office/drawing/2014/main" id="{45B67251-BFC2-4F2A-811A-165854849550}"/>
              </a:ext>
            </a:extLst>
          </p:cNvPr>
          <p:cNvPicPr>
            <a:picLocks noChangeAspect="1"/>
          </p:cNvPicPr>
          <p:nvPr/>
        </p:nvPicPr>
        <p:blipFill>
          <a:blip r:embed="rId4"/>
          <a:stretch>
            <a:fillRect/>
          </a:stretch>
        </p:blipFill>
        <p:spPr>
          <a:xfrm>
            <a:off x="3000000" y="3561214"/>
            <a:ext cx="3574707" cy="21803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MÓVIL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AF8F6BF9-3FED-40B0-9F48-D7333CA212F1}"/>
              </a:ext>
            </a:extLst>
          </p:cNvPr>
          <p:cNvPicPr>
            <a:picLocks noChangeAspect="1"/>
          </p:cNvPicPr>
          <p:nvPr/>
        </p:nvPicPr>
        <p:blipFill>
          <a:blip r:embed="rId3"/>
          <a:stretch>
            <a:fillRect/>
          </a:stretch>
        </p:blipFill>
        <p:spPr>
          <a:xfrm>
            <a:off x="2120910" y="1999332"/>
            <a:ext cx="5572903" cy="45821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7973183"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dirty="0"/>
          </a:p>
          <a:p>
            <a:pPr marL="0" lvl="0" indent="0" algn="l" rtl="0">
              <a:lnSpc>
                <a:spcPct val="100000"/>
              </a:lnSpc>
              <a:spcBef>
                <a:spcPts val="0"/>
              </a:spcBef>
              <a:spcAft>
                <a:spcPts val="0"/>
              </a:spcAft>
              <a:buClr>
                <a:schemeClr val="lt1"/>
              </a:buClr>
              <a:buSzPct val="100000"/>
              <a:buFont typeface="Gill Sans"/>
              <a:buNone/>
            </a:pPr>
            <a:r>
              <a:rPr lang="es-ES" dirty="0"/>
              <a:t>2.4</a:t>
            </a:r>
            <a:r>
              <a:rPr lang="es-MX" dirty="0"/>
              <a:t>.	CREACIÓN DEL CLIENTE EN APLICACIÓN DE WEB</a:t>
            </a:r>
            <a:endParaRPr dirty="0"/>
          </a:p>
          <a:p>
            <a:pPr marL="0" lvl="0" indent="0" algn="l" rtl="0">
              <a:lnSpc>
                <a:spcPct val="100000"/>
              </a:lnSpc>
              <a:spcBef>
                <a:spcPts val="0"/>
              </a:spcBef>
              <a:spcAft>
                <a:spcPts val="0"/>
              </a:spcAft>
              <a:buClr>
                <a:schemeClr val="lt1"/>
              </a:buClr>
              <a:buSzPct val="100000"/>
              <a:buFont typeface="Gill Sans"/>
              <a:buNone/>
            </a:pPr>
            <a:endParaRPr dirty="0"/>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949973"/>
          </a:xfrm>
          <a:prstGeom prst="rect">
            <a:avLst/>
          </a:prstGeom>
          <a:noFill/>
          <a:ln>
            <a:noFill/>
          </a:ln>
        </p:spPr>
        <p:txBody>
          <a:bodyPr spcFirstLastPara="1" wrap="square" lIns="91425" tIns="91425" rIns="91425" bIns="91425" anchor="t" anchorCtr="0">
            <a:spAutoFit/>
          </a:bodyPr>
          <a:lstStyle/>
          <a:p>
            <a:pPr>
              <a:lnSpc>
                <a:spcPct val="115000"/>
              </a:lnSpc>
              <a:spcAft>
                <a:spcPts val="1000"/>
              </a:spcAft>
            </a:pPr>
            <a:r>
              <a:rPr lang="es-ES" sz="1800" dirty="0">
                <a:latin typeface="Gill Sans" panose="020B0604020202020204" charset="0"/>
              </a:rPr>
              <a:t>Se crean los paquetes orientados a una arquitectura MVC, todo esto en el </a:t>
            </a:r>
            <a:r>
              <a:rPr lang="es-EC" sz="1800" dirty="0" err="1">
                <a:latin typeface="Gill Sans" panose="020B0604020202020204" charset="0"/>
              </a:rPr>
              <a:t>framework</a:t>
            </a:r>
            <a:r>
              <a:rPr lang="es-EC" sz="1800" dirty="0">
                <a:latin typeface="Gill Sans" panose="020B0604020202020204" charset="0"/>
              </a:rPr>
              <a:t> </a:t>
            </a:r>
            <a:r>
              <a:rPr lang="es-ES" sz="1800" dirty="0">
                <a:latin typeface="Gill Sans" panose="020B0604020202020204" charset="0"/>
              </a:rPr>
              <a:t> </a:t>
            </a:r>
            <a:r>
              <a:rPr lang="es-ES" sz="1800" dirty="0" err="1">
                <a:latin typeface="Gill Sans" panose="020B0604020202020204" charset="0"/>
              </a:rPr>
              <a:t>react</a:t>
            </a:r>
            <a:endParaRPr lang="es-EC" sz="1800" dirty="0">
              <a:latin typeface="Gill Sans" panose="020B0604020202020204" charset="0"/>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4" name="Imagen 3">
            <a:extLst>
              <a:ext uri="{FF2B5EF4-FFF2-40B4-BE49-F238E27FC236}">
                <a16:creationId xmlns:a16="http://schemas.microsoft.com/office/drawing/2014/main" id="{4D213330-3661-494B-A678-AF5E556BDC50}"/>
              </a:ext>
            </a:extLst>
          </p:cNvPr>
          <p:cNvPicPr>
            <a:picLocks noChangeAspect="1"/>
          </p:cNvPicPr>
          <p:nvPr/>
        </p:nvPicPr>
        <p:blipFill>
          <a:blip r:embed="rId3"/>
          <a:stretch>
            <a:fillRect/>
          </a:stretch>
        </p:blipFill>
        <p:spPr>
          <a:xfrm>
            <a:off x="3095206" y="2848873"/>
            <a:ext cx="3000794" cy="3772426"/>
          </a:xfrm>
          <a:prstGeom prst="rect">
            <a:avLst/>
          </a:prstGeom>
        </p:spPr>
      </p:pic>
    </p:spTree>
    <p:extLst>
      <p:ext uri="{BB962C8B-B14F-4D97-AF65-F5344CB8AC3E}">
        <p14:creationId xmlns:p14="http://schemas.microsoft.com/office/powerpoint/2010/main" val="2105223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2524d66b2ad_0_476"/>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3 EJECUCIÓN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 name="TextBox 2">
            <a:extLst>
              <a:ext uri="{FF2B5EF4-FFF2-40B4-BE49-F238E27FC236}">
                <a16:creationId xmlns:a16="http://schemas.microsoft.com/office/drawing/2014/main" id="{014C9986-281E-B768-CBED-79EECC0EE90D}"/>
              </a:ext>
            </a:extLst>
          </p:cNvPr>
          <p:cNvSpPr txBox="1"/>
          <p:nvPr/>
        </p:nvSpPr>
        <p:spPr>
          <a:xfrm>
            <a:off x="415015" y="1984786"/>
            <a:ext cx="6104020" cy="423514"/>
          </a:xfrm>
          <a:prstGeom prst="rect">
            <a:avLst/>
          </a:prstGeom>
          <a:noFill/>
        </p:spPr>
        <p:txBody>
          <a:bodyPr wrap="square">
            <a:spAutoFit/>
          </a:bodyPr>
          <a:lstStyle/>
          <a:p>
            <a:pPr>
              <a:lnSpc>
                <a:spcPct val="115000"/>
              </a:lnSpc>
              <a:spcAft>
                <a:spcPts val="1000"/>
              </a:spcAft>
            </a:pPr>
            <a:r>
              <a:rPr lang="es-ES" sz="2000" b="1">
                <a:solidFill>
                  <a:srgbClr val="244061"/>
                </a:solidFill>
                <a:effectLst/>
                <a:latin typeface="Arial" panose="020B0604020202020204" pitchFamily="34" charset="0"/>
                <a:ea typeface="SimSun" panose="02010600030101010101" pitchFamily="2" charset="-122"/>
                <a:cs typeface="Arial" panose="020B0604020202020204" pitchFamily="34" charset="0"/>
              </a:rPr>
              <a:t>Ejecución de cliente consola</a:t>
            </a:r>
            <a:endParaRPr lang="es-EC" sz="120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Imagen 3">
            <a:extLst>
              <a:ext uri="{FF2B5EF4-FFF2-40B4-BE49-F238E27FC236}">
                <a16:creationId xmlns:a16="http://schemas.microsoft.com/office/drawing/2014/main" id="{0BA7C440-0538-45D9-931B-4EA9F2C2D145}"/>
              </a:ext>
            </a:extLst>
          </p:cNvPr>
          <p:cNvPicPr>
            <a:picLocks noChangeAspect="1"/>
          </p:cNvPicPr>
          <p:nvPr/>
        </p:nvPicPr>
        <p:blipFill>
          <a:blip r:embed="rId3"/>
          <a:stretch>
            <a:fillRect/>
          </a:stretch>
        </p:blipFill>
        <p:spPr>
          <a:xfrm>
            <a:off x="3000000" y="2600030"/>
            <a:ext cx="2998704" cy="39933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 name="Title 4">
            <a:extLst>
              <a:ext uri="{FF2B5EF4-FFF2-40B4-BE49-F238E27FC236}">
                <a16:creationId xmlns:a16="http://schemas.microsoft.com/office/drawing/2014/main" id="{4B3B84C6-6A8A-D086-F942-5F36FF284384}"/>
              </a:ext>
            </a:extLst>
          </p:cNvPr>
          <p:cNvSpPr>
            <a:spLocks noGrp="1"/>
          </p:cNvSpPr>
          <p:nvPr>
            <p:ph type="title"/>
          </p:nvPr>
        </p:nvSpPr>
        <p:spPr/>
        <p:txBody>
          <a:bodyPr>
            <a:normAutofit fontScale="90000"/>
          </a:bodyPr>
          <a:lstStyle/>
          <a:p>
            <a:r>
              <a:rPr lang="es-ES" b="1">
                <a:solidFill>
                  <a:schemeClr val="bg1"/>
                </a:solidFill>
                <a:effectLst/>
                <a:latin typeface="Arial" panose="020B0604020202020204" pitchFamily="34" charset="0"/>
                <a:ea typeface="SimSun" panose="02010600030101010101" pitchFamily="2" charset="-122"/>
              </a:rPr>
              <a:t>Ejecución del cliente escritorio:</a:t>
            </a:r>
            <a:br>
              <a:rPr lang="es-ES" b="1">
                <a:solidFill>
                  <a:schemeClr val="bg1"/>
                </a:solidFill>
                <a:effectLst/>
                <a:latin typeface="Arial" panose="020B0604020202020204" pitchFamily="34" charset="0"/>
                <a:ea typeface="SimSun" panose="02010600030101010101" pitchFamily="2" charset="-122"/>
              </a:rPr>
            </a:br>
            <a:endParaRPr lang="es-EC" sz="4000">
              <a:solidFill>
                <a:schemeClr val="bg1"/>
              </a:solidFill>
            </a:endParaRPr>
          </a:p>
        </p:txBody>
      </p:sp>
      <p:pic>
        <p:nvPicPr>
          <p:cNvPr id="3" name="Imagen 2">
            <a:extLst>
              <a:ext uri="{FF2B5EF4-FFF2-40B4-BE49-F238E27FC236}">
                <a16:creationId xmlns:a16="http://schemas.microsoft.com/office/drawing/2014/main" id="{F8D83BB5-C04C-463A-B545-9D84AD23DECF}"/>
              </a:ext>
            </a:extLst>
          </p:cNvPr>
          <p:cNvPicPr>
            <a:picLocks noChangeAspect="1"/>
          </p:cNvPicPr>
          <p:nvPr/>
        </p:nvPicPr>
        <p:blipFill>
          <a:blip r:embed="rId3"/>
          <a:stretch>
            <a:fillRect/>
          </a:stretch>
        </p:blipFill>
        <p:spPr>
          <a:xfrm>
            <a:off x="392079" y="3001434"/>
            <a:ext cx="3774352" cy="2225295"/>
          </a:xfrm>
          <a:prstGeom prst="rect">
            <a:avLst/>
          </a:prstGeom>
        </p:spPr>
      </p:pic>
      <p:pic>
        <p:nvPicPr>
          <p:cNvPr id="6" name="Imagen 5">
            <a:extLst>
              <a:ext uri="{FF2B5EF4-FFF2-40B4-BE49-F238E27FC236}">
                <a16:creationId xmlns:a16="http://schemas.microsoft.com/office/drawing/2014/main" id="{C418943F-F308-4DF3-8C80-CFB99F9102BB}"/>
              </a:ext>
            </a:extLst>
          </p:cNvPr>
          <p:cNvPicPr>
            <a:picLocks noChangeAspect="1"/>
          </p:cNvPicPr>
          <p:nvPr/>
        </p:nvPicPr>
        <p:blipFill>
          <a:blip r:embed="rId4"/>
          <a:stretch>
            <a:fillRect/>
          </a:stretch>
        </p:blipFill>
        <p:spPr>
          <a:xfrm>
            <a:off x="4440503" y="2761245"/>
            <a:ext cx="4402792" cy="2705672"/>
          </a:xfrm>
          <a:prstGeom prst="rect">
            <a:avLst/>
          </a:prstGeom>
        </p:spPr>
      </p:pic>
    </p:spTree>
    <p:extLst>
      <p:ext uri="{BB962C8B-B14F-4D97-AF65-F5344CB8AC3E}">
        <p14:creationId xmlns:p14="http://schemas.microsoft.com/office/powerpoint/2010/main" val="1823293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2524d66b2ad_0_490"/>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0" lvl="0" indent="0" algn="l" rtl="0">
              <a:spcBef>
                <a:spcPts val="360"/>
              </a:spcBef>
              <a:spcAft>
                <a:spcPts val="0"/>
              </a:spcAft>
              <a:buNone/>
            </a:pPr>
            <a:r>
              <a:rPr lang="es-ES"/>
              <a:t> </a:t>
            </a:r>
            <a:endParaRPr/>
          </a:p>
        </p:txBody>
      </p:sp>
      <p:sp>
        <p:nvSpPr>
          <p:cNvPr id="539" name="Google Shape;539;g2524d66b2ad_0_49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40" name="Google Shape;540;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1" name="Google Shape;541;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4" name="Google Shape;544;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 name="TextBox 3">
            <a:extLst>
              <a:ext uri="{FF2B5EF4-FFF2-40B4-BE49-F238E27FC236}">
                <a16:creationId xmlns:a16="http://schemas.microsoft.com/office/drawing/2014/main" id="{EF73760E-80E4-6BAF-33D9-6CBE479BC1AD}"/>
              </a:ext>
            </a:extLst>
          </p:cNvPr>
          <p:cNvSpPr txBox="1"/>
          <p:nvPr/>
        </p:nvSpPr>
        <p:spPr>
          <a:xfrm>
            <a:off x="623078" y="994200"/>
            <a:ext cx="6104020" cy="555986"/>
          </a:xfrm>
          <a:prstGeom prst="rect">
            <a:avLst/>
          </a:prstGeom>
          <a:noFill/>
        </p:spPr>
        <p:txBody>
          <a:bodyPr wrap="square">
            <a:spAutoFit/>
          </a:bodyPr>
          <a:lstStyle/>
          <a:p>
            <a:pPr>
              <a:lnSpc>
                <a:spcPct val="115000"/>
              </a:lnSpc>
              <a:spcAft>
                <a:spcPts val="1000"/>
              </a:spcAft>
            </a:pPr>
            <a:r>
              <a:rPr lang="es-ES" sz="2800" b="1">
                <a:solidFill>
                  <a:schemeClr val="bg1"/>
                </a:solidFill>
                <a:effectLst/>
                <a:latin typeface="Arial" panose="020B0604020202020204" pitchFamily="34" charset="0"/>
                <a:ea typeface="SimSun" panose="02010600030101010101" pitchFamily="2" charset="-122"/>
                <a:cs typeface="Arial" panose="020B0604020202020204" pitchFamily="34" charset="0"/>
              </a:rPr>
              <a:t>Ejecución de cliente móvil </a:t>
            </a:r>
            <a:endParaRPr lang="es-EC" sz="160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Imagen 2">
            <a:extLst>
              <a:ext uri="{FF2B5EF4-FFF2-40B4-BE49-F238E27FC236}">
                <a16:creationId xmlns:a16="http://schemas.microsoft.com/office/drawing/2014/main" id="{5DDC3B22-E01C-42C2-9DF3-CE68D721705C}"/>
              </a:ext>
            </a:extLst>
          </p:cNvPr>
          <p:cNvPicPr>
            <a:picLocks noChangeAspect="1"/>
          </p:cNvPicPr>
          <p:nvPr/>
        </p:nvPicPr>
        <p:blipFill>
          <a:blip r:embed="rId3"/>
          <a:stretch>
            <a:fillRect/>
          </a:stretch>
        </p:blipFill>
        <p:spPr>
          <a:xfrm>
            <a:off x="1032694" y="2016719"/>
            <a:ext cx="2229161" cy="4410691"/>
          </a:xfrm>
          <a:prstGeom prst="rect">
            <a:avLst/>
          </a:prstGeom>
        </p:spPr>
      </p:pic>
      <p:pic>
        <p:nvPicPr>
          <p:cNvPr id="6" name="Imagen 5">
            <a:extLst>
              <a:ext uri="{FF2B5EF4-FFF2-40B4-BE49-F238E27FC236}">
                <a16:creationId xmlns:a16="http://schemas.microsoft.com/office/drawing/2014/main" id="{2BB04344-B9D3-4A8C-80BA-745F15FAC5AC}"/>
              </a:ext>
            </a:extLst>
          </p:cNvPr>
          <p:cNvPicPr>
            <a:picLocks noChangeAspect="1"/>
          </p:cNvPicPr>
          <p:nvPr/>
        </p:nvPicPr>
        <p:blipFill>
          <a:blip r:embed="rId4"/>
          <a:stretch>
            <a:fillRect/>
          </a:stretch>
        </p:blipFill>
        <p:spPr>
          <a:xfrm>
            <a:off x="4729938" y="2062691"/>
            <a:ext cx="2229160" cy="462344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4	CONCLUSIONES</a:t>
            </a:r>
            <a:endParaRPr/>
          </a:p>
        </p:txBody>
      </p:sp>
      <p:sp>
        <p:nvSpPr>
          <p:cNvPr id="550" name="Google Shape;550;p35"/>
          <p:cNvSpPr txBox="1">
            <a:spLocks noGrp="1"/>
          </p:cNvSpPr>
          <p:nvPr>
            <p:ph type="body" idx="1"/>
          </p:nvPr>
        </p:nvSpPr>
        <p:spPr>
          <a:xfrm>
            <a:off x="581192" y="1903306"/>
            <a:ext cx="8176800" cy="3616961"/>
          </a:xfrm>
          <a:prstGeom prst="rect">
            <a:avLst/>
          </a:prstGeom>
          <a:noFill/>
          <a:ln>
            <a:noFill/>
          </a:ln>
        </p:spPr>
        <p:txBody>
          <a:bodyPr spcFirstLastPara="1" wrap="square" lIns="91425" tIns="45700" rIns="91425" bIns="45700" anchor="ctr" anchorCtr="0">
            <a:normAutofit/>
          </a:bodyPr>
          <a:lstStyle/>
          <a:p>
            <a:pPr lvl="0" indent="-325869">
              <a:spcBef>
                <a:spcPts val="960"/>
              </a:spcBef>
              <a:buClr>
                <a:schemeClr val="dk1"/>
              </a:buClr>
              <a:buSzPct val="91999"/>
            </a:pPr>
            <a:r>
              <a:rPr lang="es-MX" dirty="0"/>
              <a:t>La práctica permitió a los estudiantes desarrollar un servicio web básico en Java, utilizando tecnologías estándar como JAX-WS. Esto les proporcionó una comprensión práctica de cómo exponer métodos de conversión de unidades a través de un servicio web accesible.</a:t>
            </a:r>
          </a:p>
          <a:p>
            <a:pPr indent="-325869">
              <a:lnSpc>
                <a:spcPct val="110000"/>
              </a:lnSpc>
              <a:spcBef>
                <a:spcPts val="960"/>
              </a:spcBef>
              <a:buClr>
                <a:schemeClr val="dk1"/>
              </a:buClr>
              <a:buSzPct val="91999"/>
            </a:pPr>
            <a:r>
              <a:rPr lang="es-EC" altLang="es-EC" dirty="0"/>
              <a:t>La correcta estructuración del proyecto en paquetes (prueba, servicio, </a:t>
            </a:r>
            <a:r>
              <a:rPr lang="es-EC" altLang="es-EC" dirty="0" err="1"/>
              <a:t>ws</a:t>
            </a:r>
            <a:r>
              <a:rPr lang="es-EC" altLang="es-EC" dirty="0"/>
              <a:t>) mejoró la organización y mantenibilidad del código. Este enfoque modular facilita futuras modificaciones y extensiones del sistema. </a:t>
            </a:r>
          </a:p>
          <a:p>
            <a:pPr lvl="0" indent="-325869">
              <a:spcBef>
                <a:spcPts val="960"/>
              </a:spcBef>
              <a:buClr>
                <a:schemeClr val="dk1"/>
              </a:buClr>
              <a:buSzPct val="91999"/>
            </a:pPr>
            <a:endParaRPr dirty="0">
              <a:solidFill>
                <a:schemeClr val="dk1"/>
              </a:solidFill>
            </a:endParaRPr>
          </a:p>
        </p:txBody>
      </p:sp>
      <p:sp>
        <p:nvSpPr>
          <p:cNvPr id="551" name="Google Shape;551;p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35</a:t>
            </a:r>
            <a:endParaRPr sz="1400" b="0" i="0" u="none" strike="noStrike" cap="none">
              <a:solidFill>
                <a:srgbClr val="000000"/>
              </a:solidFill>
              <a:latin typeface="Arial"/>
              <a:ea typeface="Arial"/>
              <a:cs typeface="Arial"/>
              <a:sym typeface="Arial"/>
            </a:endParaRPr>
          </a:p>
        </p:txBody>
      </p:sp>
      <p:sp>
        <p:nvSpPr>
          <p:cNvPr id="552" name="Google Shape;552;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3" name="Google Shape;553;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4" name="Google Shape;554;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5</a:t>
            </a:r>
            <a:r>
              <a:rPr lang="es-ES" sz="1100" b="0" i="0" u="none" strike="noStrike" cap="none" dirty="0">
                <a:solidFill>
                  <a:schemeClr val="lt1"/>
                </a:solidFill>
                <a:latin typeface="Gill Sans"/>
                <a:ea typeface="Gill Sans"/>
                <a:cs typeface="Gill Sans"/>
                <a:sym typeface="Gill Sans"/>
              </a:rPr>
              <a:t>	BIBLIOGRAFÍA</a:t>
            </a:r>
            <a:endParaRPr sz="1100" b="0" i="0" u="none" strike="noStrike" cap="none" dirty="0">
              <a:solidFill>
                <a:srgbClr val="FFFF00"/>
              </a:solidFill>
              <a:latin typeface="Gill Sans"/>
              <a:ea typeface="Gill Sans"/>
              <a:cs typeface="Gill Sans"/>
              <a:sym typeface="Gill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6	BIBLIOGRAFÍA</a:t>
            </a:r>
            <a:endParaRPr/>
          </a:p>
        </p:txBody>
      </p:sp>
      <p:sp>
        <p:nvSpPr>
          <p:cNvPr id="570" name="Google Shape;570;p37"/>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err="1">
                <a:latin typeface="Times New Roman" panose="02020603050405020304" pitchFamily="18" charset="0"/>
                <a:ea typeface="Calibri" panose="020F0502020204030204" pitchFamily="34" charset="0"/>
                <a:cs typeface="Arial" panose="020B0604020202020204" pitchFamily="34" charset="0"/>
              </a:rPr>
              <a:t>Deitel</a:t>
            </a:r>
            <a:r>
              <a:rPr lang="es-EC" altLang="es-EC" dirty="0">
                <a:latin typeface="Times New Roman" panose="02020603050405020304" pitchFamily="18" charset="0"/>
                <a:ea typeface="Calibri" panose="020F0502020204030204" pitchFamily="34" charset="0"/>
                <a:cs typeface="Arial" panose="020B0604020202020204" pitchFamily="34" charset="0"/>
              </a:rPr>
              <a:t>, P., &amp; </a:t>
            </a:r>
            <a:r>
              <a:rPr lang="es-EC" altLang="es-EC" dirty="0" err="1">
                <a:latin typeface="Times New Roman" panose="02020603050405020304" pitchFamily="18" charset="0"/>
                <a:ea typeface="Calibri" panose="020F0502020204030204" pitchFamily="34" charset="0"/>
                <a:cs typeface="Arial" panose="020B0604020202020204" pitchFamily="34" charset="0"/>
              </a:rPr>
              <a:t>Deitel</a:t>
            </a:r>
            <a:r>
              <a:rPr lang="es-EC" altLang="es-EC" dirty="0">
                <a:latin typeface="Times New Roman" panose="02020603050405020304" pitchFamily="18" charset="0"/>
                <a:ea typeface="Calibri" panose="020F0502020204030204" pitchFamily="34" charset="0"/>
                <a:cs typeface="Arial" panose="020B0604020202020204" pitchFamily="34" charset="0"/>
              </a:rPr>
              <a:t>, H. (2017). Java </a:t>
            </a:r>
            <a:r>
              <a:rPr lang="es-EC" altLang="es-EC" dirty="0" err="1">
                <a:latin typeface="Times New Roman" panose="02020603050405020304" pitchFamily="18" charset="0"/>
                <a:ea typeface="Calibri" panose="020F0502020204030204" pitchFamily="34" charset="0"/>
                <a:cs typeface="Arial" panose="020B0604020202020204" pitchFamily="34" charset="0"/>
              </a:rPr>
              <a:t>How</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to</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Program</a:t>
            </a:r>
            <a:r>
              <a:rPr lang="es-EC" altLang="es-EC" dirty="0">
                <a:latin typeface="Times New Roman" panose="02020603050405020304" pitchFamily="18" charset="0"/>
                <a:ea typeface="Calibri" panose="020F0502020204030204" pitchFamily="34" charset="0"/>
                <a:cs typeface="Arial" panose="020B0604020202020204" pitchFamily="34" charset="0"/>
              </a:rPr>
              <a:t> (Late </a:t>
            </a:r>
            <a:r>
              <a:rPr lang="es-EC" altLang="es-EC" dirty="0" err="1">
                <a:latin typeface="Times New Roman" panose="02020603050405020304" pitchFamily="18" charset="0"/>
                <a:ea typeface="Calibri" panose="020F0502020204030204" pitchFamily="34" charset="0"/>
                <a:cs typeface="Arial" panose="020B0604020202020204" pitchFamily="34" charset="0"/>
              </a:rPr>
              <a:t>Objects</a:t>
            </a:r>
            <a:r>
              <a:rPr lang="es-EC" altLang="es-EC" dirty="0">
                <a:latin typeface="Times New Roman" panose="02020603050405020304" pitchFamily="18" charset="0"/>
                <a:ea typeface="Calibri" panose="020F0502020204030204" pitchFamily="34" charset="0"/>
                <a:cs typeface="Arial" panose="020B0604020202020204" pitchFamily="34" charset="0"/>
              </a:rPr>
              <a:t>) (11th ed.). Pearson.</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Oracle. (</a:t>
            </a:r>
            <a:r>
              <a:rPr lang="es-EC" altLang="es-EC" dirty="0" err="1">
                <a:latin typeface="Times New Roman" panose="02020603050405020304" pitchFamily="18" charset="0"/>
                <a:ea typeface="Calibri" panose="020F0502020204030204" pitchFamily="34" charset="0"/>
                <a:cs typeface="Arial" panose="020B0604020202020204" pitchFamily="34" charset="0"/>
              </a:rPr>
              <a:t>n.d</a:t>
            </a:r>
            <a:r>
              <a:rPr lang="es-EC" altLang="es-EC" dirty="0">
                <a:latin typeface="Times New Roman" panose="02020603050405020304" pitchFamily="18" charset="0"/>
                <a:ea typeface="Calibri" panose="020F0502020204030204" pitchFamily="34" charset="0"/>
                <a:cs typeface="Arial" panose="020B0604020202020204" pitchFamily="34" charset="0"/>
              </a:rPr>
              <a:t>.). Java </a:t>
            </a:r>
            <a:r>
              <a:rPr lang="es-EC" altLang="es-EC" dirty="0" err="1">
                <a:latin typeface="Times New Roman" panose="02020603050405020304" pitchFamily="18" charset="0"/>
                <a:ea typeface="Calibri" panose="020F0502020204030204" pitchFamily="34" charset="0"/>
                <a:cs typeface="Arial" panose="020B0604020202020204" pitchFamily="34" charset="0"/>
              </a:rPr>
              <a:t>Platform</a:t>
            </a:r>
            <a:r>
              <a:rPr lang="es-EC" altLang="es-EC" dirty="0">
                <a:latin typeface="Times New Roman" panose="02020603050405020304" pitchFamily="18" charset="0"/>
                <a:ea typeface="Calibri" panose="020F0502020204030204" pitchFamily="34" charset="0"/>
                <a:cs typeface="Arial" panose="020B0604020202020204" pitchFamily="34" charset="0"/>
              </a:rPr>
              <a:t>, Enterprise </a:t>
            </a:r>
            <a:r>
              <a:rPr lang="es-EC" altLang="es-EC" dirty="0" err="1">
                <a:latin typeface="Times New Roman" panose="02020603050405020304" pitchFamily="18" charset="0"/>
                <a:ea typeface="Calibri" panose="020F0502020204030204" pitchFamily="34" charset="0"/>
                <a:cs typeface="Arial" panose="020B0604020202020204" pitchFamily="34" charset="0"/>
              </a:rPr>
              <a:t>Edition</a:t>
            </a:r>
            <a:r>
              <a:rPr lang="es-EC" altLang="es-EC" dirty="0">
                <a:latin typeface="Times New Roman" panose="02020603050405020304" pitchFamily="18" charset="0"/>
                <a:ea typeface="Calibri" panose="020F0502020204030204" pitchFamily="34" charset="0"/>
                <a:cs typeface="Arial" panose="020B0604020202020204" pitchFamily="34" charset="0"/>
              </a:rPr>
              <a:t> (Java EE). Recuperado de </a:t>
            </a:r>
            <a:r>
              <a:rPr lang="es-EC" altLang="es-EC" dirty="0">
                <a:latin typeface="Times New Roman" panose="02020603050405020304" pitchFamily="18" charset="0"/>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https://www.oracle.com/java/technologies/java-ee-glance.html</a:t>
            </a:r>
            <a:endParaRPr lang="es-EC" altLang="es-EC" dirty="0">
              <a:latin typeface="Times New Roman" panose="02020603050405020304" pitchFamily="18" charset="0"/>
              <a:ea typeface="Calibri" panose="020F0502020204030204" pitchFamily="34" charset="0"/>
              <a:cs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Pressman, R. S., &amp; </a:t>
            </a:r>
            <a:r>
              <a:rPr lang="es-EC" altLang="es-EC" dirty="0" err="1">
                <a:latin typeface="Times New Roman" panose="02020603050405020304" pitchFamily="18" charset="0"/>
                <a:ea typeface="Calibri" panose="020F0502020204030204" pitchFamily="34" charset="0"/>
                <a:cs typeface="Arial" panose="020B0604020202020204" pitchFamily="34" charset="0"/>
              </a:rPr>
              <a:t>Maxim</a:t>
            </a:r>
            <a:r>
              <a:rPr lang="es-EC" altLang="es-EC" dirty="0">
                <a:latin typeface="Times New Roman" panose="02020603050405020304" pitchFamily="18" charset="0"/>
                <a:ea typeface="Calibri" panose="020F0502020204030204" pitchFamily="34" charset="0"/>
                <a:cs typeface="Arial" panose="020B0604020202020204" pitchFamily="34" charset="0"/>
              </a:rPr>
              <a:t>, B. R. (2019). Software </a:t>
            </a:r>
            <a:r>
              <a:rPr lang="es-EC" altLang="es-EC" dirty="0" err="1">
                <a:latin typeface="Times New Roman" panose="02020603050405020304" pitchFamily="18" charset="0"/>
                <a:ea typeface="Calibri" panose="020F0502020204030204" pitchFamily="34" charset="0"/>
                <a:cs typeface="Arial" panose="020B0604020202020204" pitchFamily="34" charset="0"/>
              </a:rPr>
              <a:t>Engineering</a:t>
            </a:r>
            <a:r>
              <a:rPr lang="es-EC" altLang="es-EC" dirty="0">
                <a:latin typeface="Times New Roman" panose="02020603050405020304" pitchFamily="18" charset="0"/>
                <a:ea typeface="Calibri" panose="020F0502020204030204" pitchFamily="34" charset="0"/>
                <a:cs typeface="Arial" panose="020B0604020202020204" pitchFamily="34" charset="0"/>
              </a:rPr>
              <a:t>: A </a:t>
            </a:r>
            <a:r>
              <a:rPr lang="es-EC" altLang="es-EC" dirty="0" err="1">
                <a:latin typeface="Times New Roman" panose="02020603050405020304" pitchFamily="18" charset="0"/>
                <a:ea typeface="Calibri" panose="020F0502020204030204" pitchFamily="34" charset="0"/>
                <a:cs typeface="Arial" panose="020B0604020202020204" pitchFamily="34" charset="0"/>
              </a:rPr>
              <a:t>Practitioner's</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Approach</a:t>
            </a:r>
            <a:r>
              <a:rPr lang="es-EC" altLang="es-EC" dirty="0">
                <a:latin typeface="Times New Roman" panose="02020603050405020304" pitchFamily="18" charset="0"/>
                <a:ea typeface="Calibri" panose="020F0502020204030204" pitchFamily="34" charset="0"/>
                <a:cs typeface="Arial" panose="020B0604020202020204" pitchFamily="34" charset="0"/>
              </a:rPr>
              <a:t> (9th ed.). McGraw-Hill </a:t>
            </a:r>
            <a:r>
              <a:rPr lang="es-EC" altLang="es-EC" dirty="0" err="1">
                <a:latin typeface="Times New Roman" panose="02020603050405020304" pitchFamily="18" charset="0"/>
                <a:ea typeface="Calibri" panose="020F0502020204030204" pitchFamily="34" charset="0"/>
                <a:cs typeface="Arial" panose="020B0604020202020204" pitchFamily="34" charset="0"/>
              </a:rPr>
              <a:t>Education</a:t>
            </a:r>
            <a:r>
              <a:rPr lang="es-EC" altLang="es-EC" dirty="0">
                <a:latin typeface="Times New Roman" panose="02020603050405020304" pitchFamily="18" charset="0"/>
                <a:ea typeface="Calibri" panose="020F0502020204030204" pitchFamily="34" charset="0"/>
                <a:cs typeface="Arial" panose="020B0604020202020204" pitchFamily="34" charset="0"/>
              </a:rPr>
              <a:t>.</a:t>
            </a:r>
          </a:p>
          <a:p>
            <a:pPr marL="342900" indent="-342900" eaLnBrk="0" fontAlgn="base" hangingPunct="0">
              <a:lnSpc>
                <a:spcPct val="107000"/>
              </a:lnSpc>
              <a:spcAft>
                <a:spcPts val="800"/>
              </a:spcAft>
              <a:buFont typeface="Symbol" panose="05050102010706020507" pitchFamily="18" charset="2"/>
              <a:buChar char=""/>
            </a:pPr>
            <a:r>
              <a:rPr lang="es-EC" altLang="es-EC" dirty="0" err="1">
                <a:latin typeface="Times New Roman" panose="02020603050405020304" pitchFamily="18" charset="0"/>
                <a:ea typeface="Calibri" panose="020F0502020204030204" pitchFamily="34" charset="0"/>
                <a:cs typeface="Arial" panose="020B0604020202020204" pitchFamily="34" charset="0"/>
              </a:rPr>
              <a:t>Eckel</a:t>
            </a:r>
            <a:r>
              <a:rPr lang="es-EC" altLang="es-EC" dirty="0">
                <a:latin typeface="Times New Roman" panose="02020603050405020304" pitchFamily="18" charset="0"/>
                <a:ea typeface="Calibri" panose="020F0502020204030204" pitchFamily="34" charset="0"/>
                <a:cs typeface="Arial" panose="020B0604020202020204" pitchFamily="34" charset="0"/>
              </a:rPr>
              <a:t>, B. (2006). </a:t>
            </a:r>
            <a:r>
              <a:rPr lang="es-EC" altLang="es-EC" dirty="0" err="1">
                <a:latin typeface="Times New Roman" panose="02020603050405020304" pitchFamily="18" charset="0"/>
                <a:ea typeface="Calibri" panose="020F0502020204030204" pitchFamily="34" charset="0"/>
                <a:cs typeface="Arial" panose="020B0604020202020204" pitchFamily="34" charset="0"/>
              </a:rPr>
              <a:t>Thinking</a:t>
            </a:r>
            <a:r>
              <a:rPr lang="es-EC" altLang="es-EC" dirty="0">
                <a:latin typeface="Times New Roman" panose="02020603050405020304" pitchFamily="18" charset="0"/>
                <a:ea typeface="Calibri" panose="020F0502020204030204" pitchFamily="34" charset="0"/>
                <a:cs typeface="Arial" panose="020B0604020202020204" pitchFamily="34" charset="0"/>
              </a:rPr>
              <a:t> in Java (4th ed.). Prentice Hall.</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Bloch, J. (2018). </a:t>
            </a:r>
            <a:r>
              <a:rPr lang="es-EC" altLang="es-EC" dirty="0" err="1">
                <a:latin typeface="Times New Roman" panose="02020603050405020304" pitchFamily="18" charset="0"/>
                <a:ea typeface="Calibri" panose="020F0502020204030204" pitchFamily="34" charset="0"/>
                <a:cs typeface="Arial" panose="020B0604020202020204" pitchFamily="34" charset="0"/>
              </a:rPr>
              <a:t>Effective</a:t>
            </a:r>
            <a:r>
              <a:rPr lang="es-EC" altLang="es-EC" dirty="0">
                <a:latin typeface="Times New Roman" panose="02020603050405020304" pitchFamily="18" charset="0"/>
                <a:ea typeface="Calibri" panose="020F0502020204030204" pitchFamily="34" charset="0"/>
                <a:cs typeface="Arial" panose="020B0604020202020204" pitchFamily="34" charset="0"/>
              </a:rPr>
              <a:t> Java (3rd ed.). Addison-Wesley.</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Sierra, K., &amp; Bates, B. (2015). Head </a:t>
            </a:r>
            <a:r>
              <a:rPr lang="es-EC" altLang="es-EC" dirty="0" err="1">
                <a:latin typeface="Times New Roman" panose="02020603050405020304" pitchFamily="18" charset="0"/>
                <a:ea typeface="Calibri" panose="020F0502020204030204" pitchFamily="34" charset="0"/>
                <a:cs typeface="Arial" panose="020B0604020202020204" pitchFamily="34" charset="0"/>
              </a:rPr>
              <a:t>First</a:t>
            </a:r>
            <a:r>
              <a:rPr lang="es-EC" altLang="es-EC" dirty="0">
                <a:latin typeface="Times New Roman" panose="02020603050405020304" pitchFamily="18" charset="0"/>
                <a:ea typeface="Calibri" panose="020F0502020204030204" pitchFamily="34" charset="0"/>
                <a:cs typeface="Arial" panose="020B0604020202020204" pitchFamily="34" charset="0"/>
              </a:rPr>
              <a:t> Java (2nd ed.). O'Reilly Media. </a:t>
            </a:r>
          </a:p>
          <a:p>
            <a:pPr marL="342900" lvl="0" indent="-342900">
              <a:lnSpc>
                <a:spcPct val="107000"/>
              </a:lnSpc>
              <a:spcAft>
                <a:spcPts val="800"/>
              </a:spcAft>
              <a:buFont typeface="Symbol" panose="05050102010706020507" pitchFamily="18" charset="2"/>
              <a:buChar char=""/>
            </a:pPr>
            <a:endParaRPr lang="es-EC" dirty="0">
              <a:latin typeface="Calibri" panose="020F0502020204030204" pitchFamily="34" charset="0"/>
              <a:ea typeface="Calibri" panose="020F0502020204030204" pitchFamily="34" charset="0"/>
              <a:cs typeface="Arial" panose="020B0604020202020204" pitchFamily="34" charset="0"/>
            </a:endParaRPr>
          </a:p>
        </p:txBody>
      </p:sp>
      <p:sp>
        <p:nvSpPr>
          <p:cNvPr id="571" name="Google Shape;571;p37"/>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3587</Words>
  <Application>Microsoft Office PowerPoint</Application>
  <PresentationFormat>Panorámica</PresentationFormat>
  <Paragraphs>755</Paragraphs>
  <Slides>21</Slides>
  <Notes>20</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21</vt:i4>
      </vt:variant>
    </vt:vector>
  </HeadingPairs>
  <TitlesOfParts>
    <vt:vector size="31" baseType="lpstr">
      <vt:lpstr>Gill Sans MT</vt:lpstr>
      <vt:lpstr>Noto Sans Symbols</vt:lpstr>
      <vt:lpstr>Symbol</vt:lpstr>
      <vt:lpstr>Arial</vt:lpstr>
      <vt:lpstr>Gill Sans</vt:lpstr>
      <vt:lpstr>Times New Roman</vt:lpstr>
      <vt:lpstr>Wingdings 2</vt:lpstr>
      <vt:lpstr>Calibri</vt:lpstr>
      <vt:lpstr>Dividendo</vt:lpstr>
      <vt:lpstr>1_Dividendo</vt:lpstr>
      <vt:lpstr>CONVERSIÓN DE UNIDADES SOAP EN JAVA SIN BASE DE DATOS  </vt:lpstr>
      <vt:lpstr>Presentación de PowerPoint</vt:lpstr>
      <vt:lpstr>1 OBJETIVO</vt:lpstr>
      <vt:lpstr>1 OBJETIVOS ESPECIFICOS</vt:lpstr>
      <vt:lpstr>2 DESARROLLO</vt:lpstr>
      <vt:lpstr>2.1.1. CREACIÓN DEL PROYECTO SERVIDOR </vt:lpstr>
      <vt:lpstr>Presentación de PowerPoint</vt:lpstr>
      <vt:lpstr>Presentación de PowerPoint</vt:lpstr>
      <vt:lpstr>2.2 CREACIÓN DEL PROYECTO ESCRITORIO CLIENTE</vt:lpstr>
      <vt:lpstr>Presentación de PowerPoint</vt:lpstr>
      <vt:lpstr>Presentación de PowerPoint</vt:lpstr>
      <vt:lpstr>Presentación de PowerPoint</vt:lpstr>
      <vt:lpstr>Presentación de PowerPoint</vt:lpstr>
      <vt:lpstr> 2.3 CREACIÓN DEL CLIENTE EN APLICACIÓN  DE CONSOLA  </vt:lpstr>
      <vt:lpstr> 2.3 CREACIÓN DEL CLIENTE EN APLICACIÓN MÓVIL  </vt:lpstr>
      <vt:lpstr> 2.4. CREACIÓN DEL CLIENTE EN APLICACIÓN DE WEB </vt:lpstr>
      <vt:lpstr> 3 EJECUCIÓN  </vt:lpstr>
      <vt:lpstr>Ejecución del cliente escritorio: </vt:lpstr>
      <vt:lpstr>Presentación de PowerPoint</vt:lpstr>
      <vt:lpstr>4 CONCLUSIONES</vt:lpstr>
      <vt:lpstr>6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CRISTIAN ISAAK ROBALINO CURAY</cp:lastModifiedBy>
  <cp:revision>13</cp:revision>
  <dcterms:created xsi:type="dcterms:W3CDTF">2020-07-10T23:33:49Z</dcterms:created>
  <dcterms:modified xsi:type="dcterms:W3CDTF">2026-05-13T02:03:14Z</dcterms:modified>
</cp:coreProperties>
</file>